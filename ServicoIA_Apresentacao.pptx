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k-pkr/servicesIA.gi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A49AFF"/>
                </a:solidFill>
                <a:latin typeface="Aptos"/>
              </a:defRPr>
            </a:pPr>
            <a:r>
              <a:t>PROJETO DE SOFTWARE /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0E5F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46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63840" y="640080"/>
            <a:ext cx="3474720" cy="5303520"/>
          </a:xfrm>
          <a:prstGeom prst="roundRect">
            <a:avLst>
              <a:gd name="adj" fmla="val 14000"/>
            </a:avLst>
          </a:prstGeom>
          <a:solidFill>
            <a:srgbClr val="23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58200" y="1280160"/>
            <a:ext cx="3200400" cy="4206240"/>
          </a:xfrm>
          <a:prstGeom prst="roundRect">
            <a:avLst>
              <a:gd name="adj" fmla="val 14000"/>
            </a:avLst>
          </a:prstGeom>
          <a:solidFill>
            <a:srgbClr val="453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1051560"/>
            <a:ext cx="1097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5200" b="1">
                <a:solidFill>
                  <a:srgbClr val="B1A5FF"/>
                </a:solidFill>
                <a:latin typeface="Aptos"/>
              </a:defRPr>
            </a:pPr>
            <a:r>
              <a:t>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704088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5500" b="1">
                <a:solidFill>
                  <a:srgbClr val="FFFFFF"/>
                </a:solidFill>
                <a:latin typeface="Aptos"/>
              </a:defRPr>
            </a:pPr>
            <a:r>
              <a:t>ServiçoIA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07792"/>
            <a:ext cx="6355080" cy="1554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800" b="0">
                <a:solidFill>
                  <a:srgbClr val="D2D3F1"/>
                </a:solidFill>
                <a:latin typeface="Aptos"/>
              </a:defRPr>
            </a:pPr>
            <a:r>
              <a:t>Ordens de serviço organizadas</a:t>
            </a:r>
          </a:p>
          <a:p>
            <a:pPr algn="l">
              <a:spcAft>
                <a:spcPts val="500"/>
              </a:spcAft>
              <a:defRPr sz="2800" b="0">
                <a:solidFill>
                  <a:srgbClr val="D2D3F1"/>
                </a:solidFill>
                <a:latin typeface="Aptos"/>
              </a:defRPr>
            </a:pPr>
            <a:r>
              <a:t>com inteligência.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" y="5074920"/>
            <a:ext cx="3840480" cy="329184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5125212"/>
            <a:ext cx="3840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INFORMÁTICA · MECÂNICA · INSTALAÇÃO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554480"/>
            <a:ext cx="2834640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856231"/>
            <a:ext cx="2560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21D31"/>
                </a:solidFill>
                <a:latin typeface="Aptos"/>
              </a:defRPr>
            </a:pPr>
            <a:r>
              <a:t>01  Receber solicitação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788920"/>
            <a:ext cx="2834640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50808" y="3090672"/>
            <a:ext cx="2560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21D31"/>
                </a:solidFill>
                <a:latin typeface="Aptos"/>
              </a:defRPr>
            </a:pPr>
            <a:r>
              <a:t>02  Organizar com 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4023360"/>
            <a:ext cx="2834640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4325112"/>
            <a:ext cx="2560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21D31"/>
                </a:solidFill>
                <a:latin typeface="Aptos"/>
              </a:defRPr>
            </a:pPr>
            <a:r>
              <a:t>03  Acompanhar 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307B80-7E8F-E585-158B-C70C71792CB2}"/>
              </a:ext>
            </a:extLst>
          </p:cNvPr>
          <p:cNvSpPr txBox="1"/>
          <p:nvPr/>
        </p:nvSpPr>
        <p:spPr>
          <a:xfrm>
            <a:off x="850900" y="5499100"/>
            <a:ext cx="6731000" cy="96949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 b="1">
                <a:solidFill>
                  <a:srgbClr val="E0E5F1"/>
                </a:solidFill>
                <a:latin typeface="Aptos" panose="020B0004020202020204" pitchFamily="34" charset="0"/>
              </a:rPr>
              <a:t>Equipe</a:t>
            </a:r>
          </a:p>
          <a:p>
            <a:r>
              <a:rPr lang="pt-BR" sz="1200">
                <a:solidFill>
                  <a:srgbClr val="E0E5F1"/>
                </a:solidFill>
                <a:latin typeface="Aptos" panose="020B0004020202020204" pitchFamily="34" charset="0"/>
              </a:rPr>
              <a:t>Rogerio Mota de Melo</a:t>
            </a:r>
          </a:p>
          <a:p>
            <a:r>
              <a:rPr lang="pt-BR" sz="1200">
                <a:solidFill>
                  <a:srgbClr val="E0E5F1"/>
                </a:solidFill>
                <a:latin typeface="Aptos" panose="020B0004020202020204" pitchFamily="34" charset="0"/>
              </a:rPr>
              <a:t>Júlio Cesa Lima dos Reis</a:t>
            </a:r>
          </a:p>
          <a:p>
            <a:r>
              <a:rPr lang="pt-BR" sz="1200">
                <a:solidFill>
                  <a:srgbClr val="E0E5F1"/>
                </a:solidFill>
                <a:latin typeface="Aptos" panose="020B0004020202020204" pitchFamily="34" charset="0"/>
              </a:rPr>
              <a:t>Carinne da Silva Borges</a:t>
            </a:r>
          </a:p>
          <a:p>
            <a:r>
              <a:rPr lang="pt-BR" sz="1200">
                <a:solidFill>
                  <a:srgbClr val="E0E5F1"/>
                </a:solidFill>
                <a:latin typeface="Aptos" panose="020B0004020202020204" pitchFamily="34" charset="0"/>
              </a:rPr>
              <a:t>João Pedro Strasser dos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755E7"/>
                </a:solidFill>
                <a:latin typeface="Aptos"/>
              </a:defRPr>
            </a:pPr>
            <a:r>
              <a:t>SERVIÇOIA  /  MVP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B75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7782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121D31"/>
                </a:solidFill>
                <a:latin typeface="Aptos"/>
              </a:defRPr>
            </a:pPr>
            <a:r>
              <a:t>01  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B7589"/>
                </a:solidFill>
                <a:latin typeface="Aptos"/>
              </a:defRPr>
            </a:pPr>
            <a:r>
              <a:t>Como pequenos prestadores de serviço administram seus atendimentos hoje?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D3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621024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8408" y="2596896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F8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798064"/>
            <a:ext cx="594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6755E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310896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21D31"/>
                </a:solidFill>
                <a:latin typeface="Aptos"/>
              </a:defRPr>
            </a:pPr>
            <a:r>
              <a:t>Informações dispersas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97680"/>
            <a:ext cx="3127248" cy="868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B7589"/>
                </a:solidFill>
                <a:latin typeface="Aptos"/>
              </a:defRPr>
            </a:pPr>
            <a:r>
              <a:t>Pedidos em mensagens, conversas e cadernos.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2331720"/>
            <a:ext cx="3621024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28031" y="2596896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2896" y="2798064"/>
            <a:ext cx="594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6755E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3611880"/>
            <a:ext cx="310896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21D31"/>
                </a:solidFill>
                <a:latin typeface="Aptos"/>
              </a:defRPr>
            </a:pPr>
            <a:r>
              <a:t>Preenchimento repetitivo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4297680"/>
            <a:ext cx="3127248" cy="868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B7589"/>
                </a:solidFill>
                <a:latin typeface="Aptos"/>
              </a:defRPr>
            </a:pPr>
            <a:r>
              <a:t>Tempo gasto para registrar dados simples.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2331720"/>
            <a:ext cx="3621024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77656" y="2596896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2798064"/>
            <a:ext cx="594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6755E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611880"/>
            <a:ext cx="310896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21D31"/>
                </a:solidFill>
                <a:latin typeface="Aptos"/>
              </a:defRPr>
            </a:pPr>
            <a:r>
              <a:t>Falta de acompanhamento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297680"/>
            <a:ext cx="3127248" cy="868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B7589"/>
                </a:solidFill>
                <a:latin typeface="Aptos"/>
              </a:defRPr>
            </a:pPr>
            <a:r>
              <a:t>Dificuldade em localizar prazo, status e orçamento.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16168"/>
            <a:ext cx="108813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6755E7"/>
                </a:solidFill>
                <a:latin typeface="Aptos"/>
              </a:defRPr>
            </a:pPr>
            <a:r>
              <a:t>Oportunidade: transformar solicitações informais em registros confiáveis e consultáveis.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755E7"/>
                </a:solidFill>
                <a:latin typeface="Aptos"/>
              </a:defRPr>
            </a:pPr>
            <a:r>
              <a:t>SERVIÇOIA  /  MVP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B75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7782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121D31"/>
                </a:solidFill>
                <a:latin typeface="Aptos"/>
              </a:defRPr>
            </a:pPr>
            <a:r>
              <a:t>02  Para quem estamos criando?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B7589"/>
                </a:solidFill>
                <a:latin typeface="Aptos"/>
              </a:defRPr>
            </a:pPr>
            <a:r>
              <a:t>Um mesmo fluxo com necessidades diferentes por especialidade.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D3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2376" y="2304288"/>
            <a:ext cx="3575304" cy="3520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0976" y="2514600"/>
            <a:ext cx="512064" cy="512064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569464"/>
            <a:ext cx="4572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6755E7"/>
                </a:solidFill>
                <a:latin typeface="Aptos"/>
              </a:defRPr>
            </a:pPr>
            <a:r>
              <a:t>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236976"/>
            <a:ext cx="308152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21D31"/>
                </a:solidFill>
                <a:latin typeface="Aptos"/>
              </a:defRPr>
            </a:pPr>
            <a:r>
              <a:t>Técnico de informática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785616"/>
            <a:ext cx="3099816" cy="1874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B7589"/>
                </a:solidFill>
                <a:latin typeface="Aptos"/>
              </a:defRPr>
            </a:pPr>
            <a:r>
              <a:t>Registra equipamento, defeito relatado, avaliação e reparo.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5303520"/>
            <a:ext cx="2194560" cy="329184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5353812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INFORMÁTICA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304288"/>
            <a:ext cx="3575304" cy="3520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81144" y="2514600"/>
            <a:ext cx="512064" cy="512064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08576" y="2569464"/>
            <a:ext cx="4572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6755E7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236976"/>
            <a:ext cx="308152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21D31"/>
                </a:solidFill>
                <a:latin typeface="Aptos"/>
              </a:defRPr>
            </a:pPr>
            <a:r>
              <a:t>Mecânico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785616"/>
            <a:ext cx="3099816" cy="1874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B7589"/>
                </a:solidFill>
                <a:latin typeface="Aptos"/>
              </a:defRPr>
            </a:pPr>
            <a:r>
              <a:t>Acompanha veículo, orçamento, peças e histórico de manutenção.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81144" y="5303520"/>
            <a:ext cx="2194560" cy="329184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81144" y="5353812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MECÂNICA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2712" y="2304288"/>
            <a:ext cx="3493008" cy="3520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11312" y="2514600"/>
            <a:ext cx="512064" cy="512064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8744" y="2569464"/>
            <a:ext cx="4572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6755E7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36976"/>
            <a:ext cx="2999232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21D31"/>
                </a:solidFill>
                <a:latin typeface="Aptos"/>
              </a:defRPr>
            </a:pPr>
            <a:r>
              <a:t>Instalador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785616"/>
            <a:ext cx="3017520" cy="1874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B7589"/>
                </a:solidFill>
                <a:latin typeface="Aptos"/>
              </a:defRPr>
            </a:pPr>
            <a:r>
              <a:t>Organiza instalação, materiais, visita e prazo combinado.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2" y="5303520"/>
            <a:ext cx="2194560" cy="329184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1312" y="5353812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INSTALAÇÃO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755E7"/>
                </a:solidFill>
                <a:latin typeface="Aptos"/>
              </a:defRPr>
            </a:pPr>
            <a:r>
              <a:t>SERVIÇOIA  /  MVP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B758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7782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121D31"/>
                </a:solidFill>
                <a:latin typeface="Aptos"/>
              </a:defRPr>
            </a:pPr>
            <a:r>
              <a:t>03  Como a solução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B7589"/>
                </a:solidFill>
                <a:latin typeface="Aptos"/>
              </a:defRPr>
            </a:pPr>
            <a:r>
              <a:t>Do pedido do cliente à conclusão do atendimento.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D3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7512" y="2496312"/>
            <a:ext cx="2706624" cy="2706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2743200"/>
            <a:ext cx="539496" cy="539496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843784"/>
            <a:ext cx="265176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29584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21D31"/>
                </a:solidFill>
                <a:latin typeface="Aptos"/>
              </a:defRPr>
            </a:pPr>
            <a:r>
              <a:t>Descrever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105656"/>
            <a:ext cx="2286000" cy="9875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O profissional registra o pedido com suas palavras.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502152"/>
            <a:ext cx="4572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6755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2496312"/>
            <a:ext cx="2706624" cy="2706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67328" y="2743200"/>
            <a:ext cx="539496" cy="539496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13632" y="2843784"/>
            <a:ext cx="265176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529584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21D31"/>
                </a:solidFill>
                <a:latin typeface="Aptos"/>
              </a:defRPr>
            </a:pPr>
            <a:r>
              <a:t>Organizar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4105656"/>
            <a:ext cx="2286000" cy="9875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IA opcional ou regras sugerem os campos da 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3502152"/>
            <a:ext cx="4572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6755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1" y="2496312"/>
            <a:ext cx="2706624" cy="2706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47688" y="2743200"/>
            <a:ext cx="539496" cy="539496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2843784"/>
            <a:ext cx="265176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529584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21D31"/>
                </a:solidFill>
                <a:latin typeface="Aptos"/>
              </a:defRPr>
            </a:pPr>
            <a:r>
              <a:t>Conferir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4105656"/>
            <a:ext cx="2286000" cy="9875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O técnico revisa, define orçamento e salva.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502152"/>
            <a:ext cx="4572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6755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8592" y="2496312"/>
            <a:ext cx="2706624" cy="2706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28048" y="2743200"/>
            <a:ext cx="539496" cy="539496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74352" y="2843784"/>
            <a:ext cx="265176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3529584"/>
            <a:ext cx="233172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21D31"/>
                </a:solidFill>
                <a:latin typeface="Aptos"/>
              </a:defRPr>
            </a:pPr>
            <a:r>
              <a:t>Acompanhar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4105656"/>
            <a:ext cx="2286000" cy="9875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Atualiza status, consulta e imprime a ordem.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" y="5760720"/>
            <a:ext cx="10789920" cy="365760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5824728"/>
            <a:ext cx="104698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6755E7"/>
                </a:solidFill>
                <a:latin typeface="Aptos"/>
              </a:defRPr>
            </a:pPr>
            <a:r>
              <a:t>Aberta  →  Em andamento  →  Aguardando peça (se necessário)  →  Concluída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755E7"/>
                </a:solidFill>
                <a:latin typeface="Aptos"/>
              </a:defRPr>
            </a:pPr>
            <a:r>
              <a:t>SERVIÇOIA  /  MVP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B758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7782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121D31"/>
                </a:solidFill>
                <a:latin typeface="Aptos"/>
              </a:defRPr>
            </a:pPr>
            <a:r>
              <a:t>04  Funcionalidades do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B7589"/>
                </a:solidFill>
                <a:latin typeface="Aptos"/>
              </a:defRPr>
            </a:pPr>
            <a:r>
              <a:t>Primeira versão: o conjunto mínimo para testar o fluxo inteiro.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D3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340864"/>
            <a:ext cx="3621024" cy="13624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542032"/>
            <a:ext cx="429768" cy="429768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624328"/>
            <a:ext cx="356616" cy="265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6755E7"/>
                </a:solidFill>
                <a:latin typeface="Aptos"/>
              </a:defRPr>
            </a:pPr>
            <a:r>
              <a:t>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06040"/>
            <a:ext cx="2679192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21D31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099816"/>
            <a:ext cx="26791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Cadastro e edição básica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40864"/>
            <a:ext cx="3621024" cy="13624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54880" y="2542032"/>
            <a:ext cx="429768" cy="429768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91456" y="2624328"/>
            <a:ext cx="356616" cy="265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6755E7"/>
                </a:solidFill>
                <a:latin typeface="Aptos"/>
              </a:defRPr>
            </a:pPr>
            <a:r>
              <a:t>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606040"/>
            <a:ext cx="2679192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21D31"/>
                </a:solidFill>
                <a:latin typeface="Aptos"/>
              </a:defRPr>
            </a:pPr>
            <a:r>
              <a:t>Assistente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099816"/>
            <a:ext cx="26791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Sugestões editáveis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340864"/>
            <a:ext cx="3621024" cy="13624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95360" y="2542032"/>
            <a:ext cx="429768" cy="429768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31936" y="2624328"/>
            <a:ext cx="356616" cy="265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6755E7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606040"/>
            <a:ext cx="2679192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21D31"/>
                </a:solidFill>
                <a:latin typeface="Aptos"/>
              </a:defRPr>
            </a:pPr>
            <a:r>
              <a:t>Ordens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99816"/>
            <a:ext cx="26791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Criação e consulta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13632"/>
            <a:ext cx="3621024" cy="13624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4114800"/>
            <a:ext cx="429768" cy="429768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4197096"/>
            <a:ext cx="356616" cy="265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6755E7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178808"/>
            <a:ext cx="2679192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21D31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672584"/>
            <a:ext cx="26791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Acompanhamento e histórico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913632"/>
            <a:ext cx="3621024" cy="13624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54880" y="4114800"/>
            <a:ext cx="429768" cy="429768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91456" y="4197096"/>
            <a:ext cx="356616" cy="265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6755E7"/>
                </a:solidFill>
                <a:latin typeface="Aptos"/>
              </a:defRPr>
            </a:pPr>
            <a:r>
              <a:t>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178808"/>
            <a:ext cx="2679192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21D31"/>
                </a:solidFill>
                <a:latin typeface="Aptos"/>
              </a:defRPr>
            </a:pPr>
            <a:r>
              <a:t>Documento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672584"/>
            <a:ext cx="26791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Impressão da 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913632"/>
            <a:ext cx="3621024" cy="13624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595360" y="4114800"/>
            <a:ext cx="429768" cy="429768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1936" y="4197096"/>
            <a:ext cx="356616" cy="265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6755E7"/>
                </a:solidFill>
                <a:latin typeface="Aptos"/>
              </a:defRPr>
            </a:pPr>
            <a:r>
              <a:t>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178808"/>
            <a:ext cx="2679192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21D31"/>
                </a:solidFill>
                <a:latin typeface="Aptos"/>
              </a:defRPr>
            </a:pPr>
            <a:r>
              <a:t>Dados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672584"/>
            <a:ext cx="26791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589"/>
                </a:solidFill>
                <a:latin typeface="Aptos"/>
              </a:defRPr>
            </a:pPr>
            <a:r>
              <a:t>CSV e backup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755E7"/>
                </a:solidFill>
                <a:latin typeface="Aptos"/>
              </a:defRPr>
            </a:pPr>
            <a:r>
              <a:t>SERVIÇOIA  /  MVP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B758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7782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121D31"/>
                </a:solidFill>
                <a:latin typeface="Aptos"/>
              </a:defRPr>
            </a:pPr>
            <a:r>
              <a:t>05  Exemplo prático: descrição →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B7589"/>
                </a:solidFill>
                <a:latin typeface="Aptos"/>
              </a:defRPr>
            </a:pPr>
            <a:r>
              <a:t>A IA organiza, mas o profissional continua responsável pela decisão.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D3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2340864"/>
            <a:ext cx="4901184" cy="30998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8408" y="2569464"/>
            <a:ext cx="1581912" cy="329184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619756"/>
            <a:ext cx="158191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ENTRADA LIVRE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246120"/>
            <a:ext cx="4297680" cy="1737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300" b="0">
                <a:solidFill>
                  <a:srgbClr val="29344B"/>
                </a:solidFill>
                <a:latin typeface="Aptos"/>
              </a:defRPr>
            </a:pPr>
            <a:r>
              <a:t>“O cliente trouxe um notebook que não liga e precisa de avaliação urgente.”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64408"/>
            <a:ext cx="566928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3700" b="1">
                <a:solidFill>
                  <a:srgbClr val="6755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4808" y="2340864"/>
            <a:ext cx="4965192" cy="30998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93408" y="2569464"/>
            <a:ext cx="1892807" cy="329184"/>
          </a:xfrm>
          <a:prstGeom prst="roundRect">
            <a:avLst>
              <a:gd name="adj" fmla="val 14000"/>
            </a:avLst>
          </a:prstGeom>
          <a:solidFill>
            <a:srgbClr val="675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8" y="2619756"/>
            <a:ext cx="1892807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SAÍDA SUGERIDA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136392"/>
            <a:ext cx="44348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9344B"/>
                </a:solidFill>
                <a:latin typeface="Aptos"/>
              </a:defRPr>
            </a:pPr>
            <a:r>
              <a:t>Título: Diagnóstico de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621024"/>
            <a:ext cx="44348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Categoria: Informática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105656"/>
            <a:ext cx="44348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Prioridade: Alta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590288"/>
            <a:ext cx="44348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Procedimento: testar fonte e componentes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44244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6755E7"/>
                </a:solidFill>
                <a:latin typeface="Aptos"/>
              </a:defRPr>
            </a:pPr>
            <a:r>
              <a:t>A ferramenta não inventa preços nem confirma o diagnóstico técnico.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755E7"/>
                </a:solidFill>
                <a:latin typeface="Aptos"/>
              </a:defRPr>
            </a:pPr>
            <a:r>
              <a:t>SERVIÇOIA  /  MVP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B758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7782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121D31"/>
                </a:solidFill>
                <a:latin typeface="Aptos"/>
              </a:defRPr>
            </a:pPr>
            <a:r>
              <a:t>06  O que foi desenvolvido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B7589"/>
                </a:solidFill>
                <a:latin typeface="Aptos"/>
              </a:defRPr>
            </a:pPr>
            <a:r>
              <a:t>Protótipo executável, com modo local e integração Gemini opcional.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D3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2286000"/>
            <a:ext cx="5193792" cy="33832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578608"/>
            <a:ext cx="43891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21D31"/>
                </a:solidFill>
                <a:latin typeface="Aptos"/>
              </a:defRPr>
            </a:pPr>
            <a:r>
              <a:t>No navegador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00984"/>
            <a:ext cx="44805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Interface responsiva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13048"/>
            <a:ext cx="44805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Clientes e ordens no navegador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25112"/>
            <a:ext cx="44805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Regras locais de organização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37176"/>
            <a:ext cx="44805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Histórico, impressão e exportações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286000"/>
            <a:ext cx="5157216" cy="3383280"/>
          </a:xfrm>
          <a:prstGeom prst="roundRect">
            <a:avLst>
              <a:gd name="adj" fmla="val 14000"/>
            </a:avLst>
          </a:prstGeom>
          <a:solidFill>
            <a:srgbClr val="E6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8816" y="2578608"/>
            <a:ext cx="4526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21D31"/>
                </a:solidFill>
                <a:latin typeface="Aptos"/>
              </a:defRPr>
            </a:pPr>
            <a:r>
              <a:t>Com servidor opcional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300984"/>
            <a:ext cx="45079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Node.js recebe o texto da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813048"/>
            <a:ext cx="45079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Gemini gera campos sugeridos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325112"/>
            <a:ext cx="45079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Chave fica fora do navegador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837176"/>
            <a:ext cx="450799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Se houver falha, usa regras locais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5925312"/>
            <a:ext cx="10698480" cy="4023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6755E7"/>
                </a:solidFill>
                <a:latin typeface="Aptos"/>
              </a:defRPr>
            </a:pPr>
            <a:r>
              <a:t>Limite importante: a versão MVP ainda não tem login, banco central ou sincronização.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755E7"/>
                </a:solidFill>
                <a:latin typeface="Aptos"/>
              </a:defRPr>
            </a:pPr>
            <a:r>
              <a:t>SERVIÇOIA  /  MVP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B758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7782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121D31"/>
                </a:solidFill>
                <a:latin typeface="Aptos"/>
              </a:defRPr>
            </a:pPr>
            <a:r>
              <a:t>07  Testes da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B7589"/>
                </a:solidFill>
                <a:latin typeface="Aptos"/>
              </a:defRPr>
            </a:pPr>
            <a:r>
              <a:t>Resultados comprovados nos testes automáticos; validação com usuários virá depois.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D3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3886200" cy="3310128"/>
          </a:xfrm>
          <a:prstGeom prst="roundRect">
            <a:avLst>
              <a:gd name="adj" fmla="val 14000"/>
            </a:avLst>
          </a:prstGeom>
          <a:solidFill>
            <a:srgbClr val="12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3227832" cy="10972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5500" b="1">
                <a:solidFill>
                  <a:srgbClr val="FFFFFF"/>
                </a:solidFill>
                <a:latin typeface="Aptos"/>
              </a:defRPr>
            </a:pPr>
            <a:r>
              <a:t>11/11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187952"/>
            <a:ext cx="3355848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E0E5F1"/>
                </a:solidFill>
                <a:latin typeface="Aptos"/>
              </a:defRPr>
            </a:pPr>
            <a:r>
              <a:t>testes automatizados passaram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331720"/>
            <a:ext cx="6492240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66944" y="2633472"/>
            <a:ext cx="5596128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21D31"/>
                </a:solidFill>
                <a:latin typeface="Aptos"/>
              </a:defRPr>
            </a:pPr>
            <a:r>
              <a:t>O que foi verificado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3273552"/>
            <a:ext cx="56235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Classificação de descrições e prioridades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3739896"/>
            <a:ext cx="56235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Validação e normalização de sugestões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4206240"/>
            <a:ext cx="56235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Remoção básica de dados de contato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4672584"/>
            <a:ext cx="56235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9344B"/>
                </a:solidFill>
                <a:latin typeface="Aptos"/>
              </a:defRPr>
            </a:pPr>
            <a:r>
              <a:t>✓  Servidor, API e fallback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943600"/>
            <a:ext cx="10698480" cy="4023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6755E7"/>
                </a:solidFill>
                <a:latin typeface="Aptos"/>
              </a:defRPr>
            </a:pPr>
            <a:r>
              <a:t>Ainda pendente: avaliação com técnicos reais, teste visual completo e teste da API externa com uma chave.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755E7"/>
                </a:solidFill>
                <a:latin typeface="Aptos"/>
              </a:defRPr>
            </a:pPr>
            <a:r>
              <a:t>SERVIÇOIA  /  MVP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B758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77824"/>
            <a:ext cx="108813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121D31"/>
                </a:solidFill>
                <a:latin typeface="Aptos"/>
              </a:defRPr>
            </a:pPr>
            <a:r>
              <a:t>08  Próximas etapas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B7589"/>
                </a:solidFill>
                <a:latin typeface="Aptos"/>
              </a:defRPr>
            </a:pPr>
            <a:r>
              <a:t>Caminho proposto para sair da demonstração e chegar ao uso real.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D3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2487168"/>
            <a:ext cx="2724912" cy="3035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743200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6755E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3584448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21D31"/>
                </a:solidFill>
                <a:latin typeface="Aptos"/>
              </a:defRPr>
            </a:pPr>
            <a:r>
              <a:t>Validar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4233672"/>
            <a:ext cx="2231136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B7589"/>
                </a:solidFill>
                <a:latin typeface="Aptos"/>
              </a:defRPr>
            </a:pPr>
            <a:r>
              <a:t>Entrevistas e testes com técnicos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456" y="2487168"/>
            <a:ext cx="2724912" cy="3035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77056" y="2743200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6755E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6" y="3584448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21D31"/>
                </a:solidFill>
                <a:latin typeface="Aptos"/>
              </a:defRPr>
            </a:pPr>
            <a:r>
              <a:t>Proteger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4233672"/>
            <a:ext cx="2231136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B7589"/>
                </a:solidFill>
                <a:latin typeface="Aptos"/>
              </a:defRPr>
            </a:pPr>
            <a:r>
              <a:t>Login, permissões e LGPD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2487168"/>
            <a:ext cx="2724912" cy="3035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75704" y="2743200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6755E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3584448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21D31"/>
                </a:solidFill>
                <a:latin typeface="Aptos"/>
              </a:defRPr>
            </a:pPr>
            <a:r>
              <a:t>Persistir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4233672"/>
            <a:ext cx="2231136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B7589"/>
                </a:solidFill>
                <a:latin typeface="Aptos"/>
              </a:defRPr>
            </a:pPr>
            <a:r>
              <a:t>Banco PostgreSQL e backups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45752" y="2487168"/>
            <a:ext cx="2724912" cy="3035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74352" y="2743200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6755E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3584448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21D31"/>
                </a:solidFill>
                <a:latin typeface="Aptos"/>
              </a:defRPr>
            </a:pPr>
            <a:r>
              <a:t>Integrar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4233672"/>
            <a:ext cx="2231136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B7589"/>
                </a:solidFill>
                <a:latin typeface="Aptos"/>
              </a:defRPr>
            </a:pPr>
            <a:r>
              <a:t>WhatsApp e agendamentos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79592"/>
            <a:ext cx="105156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6755E7"/>
                </a:solidFill>
                <a:latin typeface="Aptos"/>
              </a:defRPr>
            </a:pPr>
            <a:r>
              <a:t>Métrica de valor a medir: tempo de cadastro manual versus tempo com o ServiçoIA.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A49AFF"/>
                </a:solidFill>
                <a:latin typeface="Aptos"/>
              </a:defRPr>
            </a:pPr>
            <a:r>
              <a:t>ENCERRAMENTO /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0E5F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6556248"/>
            <a:ext cx="10753344" cy="10972"/>
          </a:xfrm>
          <a:prstGeom prst="rect">
            <a:avLst/>
          </a:prstGeom>
          <a:solidFill>
            <a:srgbClr val="46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408176"/>
            <a:ext cx="10012680" cy="8046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5100" b="1">
                <a:solidFill>
                  <a:srgbClr val="FFFFFF"/>
                </a:solidFill>
                <a:latin typeface="Aptos"/>
              </a:defRPr>
            </a:pPr>
            <a:r>
              <a:t>ServiçoIA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423160"/>
            <a:ext cx="10424160" cy="1371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100" b="0">
                <a:solidFill>
                  <a:srgbClr val="D5CEFF"/>
                </a:solidFill>
                <a:latin typeface="Aptos"/>
              </a:defRPr>
            </a:pPr>
            <a:r>
              <a:t>Menos tempo preenchendo.</a:t>
            </a:r>
          </a:p>
          <a:p>
            <a:pPr algn="l">
              <a:spcAft>
                <a:spcPts val="500"/>
              </a:spcAft>
              <a:defRPr sz="3100" b="0">
                <a:solidFill>
                  <a:srgbClr val="D5CEFF"/>
                </a:solidFill>
                <a:latin typeface="Aptos"/>
              </a:defRPr>
            </a:pPr>
            <a:r>
              <a:t>Mais controle dos atendimentos.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4590288"/>
            <a:ext cx="10561320" cy="1024128"/>
          </a:xfrm>
          <a:prstGeom prst="roundRect">
            <a:avLst>
              <a:gd name="adj" fmla="val 14000"/>
            </a:avLst>
          </a:prstGeom>
          <a:solidFill>
            <a:srgbClr val="2F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4882896"/>
            <a:ext cx="1001268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DEMONSTRAÇÃO: descrever → organizar → revisar → salvar → atualizar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5952744"/>
            <a:ext cx="1078992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5F1"/>
                </a:solidFill>
                <a:latin typeface="Aptos"/>
              </a:defRPr>
            </a:pPr>
            <a:r>
              <a:t>Protótipo acadêmico • resultado de IA sujeito a conferência humana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9FB4554-D410-F0B7-BCCA-44315B296A3F}"/>
              </a:ext>
            </a:extLst>
          </p:cNvPr>
          <p:cNvSpPr txBox="1"/>
          <p:nvPr/>
        </p:nvSpPr>
        <p:spPr>
          <a:xfrm>
            <a:off x="825500" y="3937000"/>
            <a:ext cx="10160000" cy="384721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pt-BR" sz="1900">
                <a:solidFill>
                  <a:srgbClr val="B19AFF"/>
                </a:solidFill>
                <a:latin typeface="Aptos" panose="020B0004020202020204" pitchFamily="34" charset="0"/>
                <a:hlinkClick r:id="rId2"/>
              </a:rPr>
              <a:t>https://github.com/ark-pkr/servicesIA.git</a:t>
            </a:r>
            <a:endParaRPr lang="pt-BR" sz="1900">
              <a:solidFill>
                <a:srgbClr val="B19AFF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651</Words>
  <Application>Microsoft Office PowerPoint</Application>
  <PresentationFormat>Widescreen</PresentationFormat>
  <Paragraphs>152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ARK PKR</cp:lastModifiedBy>
  <cp:revision>2</cp:revision>
  <dcterms:created xsi:type="dcterms:W3CDTF">2013-01-27T09:14:16Z</dcterms:created>
  <dcterms:modified xsi:type="dcterms:W3CDTF">2026-10-27T00:37:56Z</dcterms:modified>
  <cp:category/>
</cp:coreProperties>
</file>